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57" r:id="rId7"/>
    <p:sldId id="258" r:id="rId8"/>
    <p:sldId id="259" r:id="rId9"/>
    <p:sldId id="260" r:id="rId10"/>
    <p:sldId id="261" r:id="rId11"/>
    <p:sldId id="262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007096" cy="2526919"/>
          </a:xfrm>
        </p:spPr>
        <p:txBody>
          <a:bodyPr>
            <a:normAutofit/>
          </a:bodyPr>
          <a:lstStyle/>
          <a:p>
            <a:r>
              <a:rPr lang="en-US" sz="4800" b="1" i="1" u="sng" dirty="0"/>
              <a:t>Postman </a:t>
            </a:r>
            <a:br>
              <a:rPr lang="en-US" sz="4800" b="1" i="1" u="sng" dirty="0"/>
            </a:br>
            <a:r>
              <a:rPr lang="en-US" sz="4800" b="1" i="1" u="sng" dirty="0"/>
              <a:t>API</a:t>
            </a:r>
            <a:br>
              <a:rPr lang="en-US" sz="4800" b="1" i="1" dirty="0"/>
            </a:br>
            <a:r>
              <a:rPr lang="en-IN" sz="4800" b="1" i="1" u="sng" dirty="0"/>
              <a:t>Role-Based Authentication</a:t>
            </a:r>
            <a:r>
              <a:rPr lang="en-US" sz="4800" b="1" i="1" dirty="0"/>
              <a:t> </a:t>
            </a:r>
            <a:endParaRPr sz="4800" b="1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AE360-7793-B926-0D7A-2B6E038F1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What is an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E3C65-2C17-183D-4C54-5E9B95733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API (Application Programming Interface)</a:t>
            </a:r>
            <a:r>
              <a:rPr lang="en-US" dirty="0"/>
              <a:t> is a software bridge that allows two applications to talk to each other.</a:t>
            </a:r>
          </a:p>
          <a:p>
            <a:pPr marL="0" indent="0">
              <a:buNone/>
            </a:pPr>
            <a:r>
              <a:rPr lang="en-US" dirty="0"/>
              <a:t> Example:</a:t>
            </a:r>
            <a:br>
              <a:rPr lang="en-US" dirty="0"/>
            </a:br>
            <a:r>
              <a:rPr lang="en-US" dirty="0"/>
              <a:t>When you use a </a:t>
            </a:r>
            <a:r>
              <a:rPr lang="en-US" b="1" dirty="0"/>
              <a:t>weather app</a:t>
            </a:r>
            <a:r>
              <a:rPr lang="en-US" dirty="0"/>
              <a:t>, it calls a </a:t>
            </a:r>
            <a:r>
              <a:rPr lang="en-US" b="1" dirty="0"/>
              <a:t>weather API</a:t>
            </a:r>
            <a:r>
              <a:rPr lang="en-US" dirty="0"/>
              <a:t> to fetch temperature, humidity, etc.</a:t>
            </a:r>
            <a:br>
              <a:rPr lang="en-US" dirty="0"/>
            </a:br>
            <a:r>
              <a:rPr lang="en-US" dirty="0"/>
              <a:t>The API gives the data back in a structure (usually JSON).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980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8683-B3C6-CC8E-BAAF-2531020BF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Why API is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5E537-C77C-A51C-89BA-CAB4BD311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APIs help in:</a:t>
            </a:r>
          </a:p>
          <a:p>
            <a:r>
              <a:rPr lang="en-US" b="1" dirty="0"/>
              <a:t>Communication between two systems</a:t>
            </a:r>
          </a:p>
          <a:p>
            <a:pPr marL="0" indent="0">
              <a:buNone/>
            </a:pPr>
            <a:r>
              <a:rPr lang="en-US" dirty="0"/>
              <a:t>Example: Frontend (React) communicates with Backend (Spring Boot) through API.</a:t>
            </a:r>
          </a:p>
          <a:p>
            <a:r>
              <a:rPr lang="en-US" b="1" dirty="0"/>
              <a:t>Data sharing</a:t>
            </a:r>
          </a:p>
          <a:p>
            <a:pPr marL="0" indent="0">
              <a:buNone/>
            </a:pPr>
            <a:r>
              <a:rPr lang="en-US" dirty="0"/>
              <a:t>You can fetch data from databases using API.</a:t>
            </a:r>
          </a:p>
          <a:p>
            <a:r>
              <a:rPr lang="en-US" b="1" dirty="0"/>
              <a:t>Reusability</a:t>
            </a:r>
          </a:p>
          <a:p>
            <a:pPr marL="0" indent="0">
              <a:buNone/>
            </a:pPr>
            <a:r>
              <a:rPr lang="en-US" dirty="0"/>
              <a:t>Once an API is created, many apps can use it (Mobile app, Web app, etc.)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703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98779-9CBA-306C-E02A-AF3E8A6BC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Why Do We Need API?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709D0-C317-1580-BC10-82C597AAD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You need an API when: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AutoNum type="arabicPeriod"/>
            </a:pPr>
            <a:r>
              <a:rPr lang="en-US" dirty="0"/>
              <a:t>To Communicate Between Applications</a:t>
            </a:r>
          </a:p>
          <a:p>
            <a:pPr marL="514350" indent="-514350">
              <a:buAutoNum type="arabicPeriod"/>
            </a:pPr>
            <a:r>
              <a:rPr lang="en-US" dirty="0"/>
              <a:t>To Share Data Easily</a:t>
            </a:r>
          </a:p>
          <a:p>
            <a:pPr marL="514350" indent="-514350">
              <a:buAutoNum type="arabicPeriod"/>
            </a:pPr>
            <a:r>
              <a:rPr lang="en-US" dirty="0"/>
              <a:t>To Improve Security</a:t>
            </a:r>
          </a:p>
          <a:p>
            <a:pPr marL="514350" indent="-514350">
              <a:buAutoNum type="arabicPeriod"/>
            </a:pPr>
            <a:r>
              <a:rPr lang="en-US" dirty="0"/>
              <a:t>For Integration With Third-Party Services</a:t>
            </a:r>
          </a:p>
          <a:p>
            <a:pPr marL="514350" indent="-514350">
              <a:buAutoNum type="arabicPeriod"/>
            </a:pPr>
            <a:r>
              <a:rPr lang="en-IN" dirty="0"/>
              <a:t>To Enable Automation</a:t>
            </a:r>
          </a:p>
          <a:p>
            <a:pPr marL="514350" indent="-514350">
              <a:buAutoNum type="arabicPeriod"/>
            </a:pPr>
            <a:r>
              <a:rPr lang="en-US" dirty="0"/>
              <a:t>To Help in Faster Development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106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06B9-72F9-54A5-B25A-93555D06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800" b="1" i="1" u="sng" dirty="0"/>
              <a:t>Without APIs: Problems in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3CC68-9E92-55B5-33EB-CCD8B4DE4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dirty="0"/>
              <a:t>1.No Communication Between Frontend &amp; Backend</a:t>
            </a:r>
          </a:p>
          <a:p>
            <a:pPr marL="0" indent="0">
              <a:buNone/>
            </a:pPr>
            <a:r>
              <a:rPr lang="en-US" dirty="0"/>
              <a:t> 2. No Database Access</a:t>
            </a:r>
          </a:p>
          <a:p>
            <a:pPr marL="0" indent="0">
              <a:buNone/>
            </a:pPr>
            <a:r>
              <a:rPr lang="en-US" dirty="0"/>
              <a:t> 3. No Integration With Third-Party Services</a:t>
            </a:r>
          </a:p>
          <a:p>
            <a:pPr marL="0" indent="0">
              <a:buNone/>
            </a:pPr>
            <a:r>
              <a:rPr lang="en-US" dirty="0"/>
              <a:t> 4. No Security Layer</a:t>
            </a:r>
          </a:p>
          <a:p>
            <a:pPr marL="0" indent="0">
              <a:buNone/>
            </a:pPr>
            <a:r>
              <a:rPr lang="en-US" dirty="0"/>
              <a:t> 5. No Automation</a:t>
            </a:r>
          </a:p>
          <a:p>
            <a:pPr marL="0" indent="0">
              <a:buNone/>
            </a:pPr>
            <a:r>
              <a:rPr lang="en-US" dirty="0"/>
              <a:t> 6. Not Scalable</a:t>
            </a:r>
            <a:br>
              <a:rPr lang="en-US" dirty="0"/>
            </a:br>
            <a:r>
              <a:rPr lang="en-US" dirty="0"/>
              <a:t> 7. Developer Teams Cannot Work Independently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What is Postman?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Postman</a:t>
            </a:r>
            <a:r>
              <a:rPr lang="en-US" dirty="0"/>
              <a:t> is a software tool used to </a:t>
            </a:r>
            <a:r>
              <a:rPr lang="en-US" b="1" dirty="0"/>
              <a:t>test APIs</a:t>
            </a:r>
            <a:r>
              <a:rPr lang="en-US" dirty="0"/>
              <a:t> (Application Programming Interfaces).</a:t>
            </a:r>
            <a:br>
              <a:rPr lang="en-US" dirty="0"/>
            </a:br>
            <a:r>
              <a:rPr lang="en-US" dirty="0"/>
              <a:t>It helps developers send requests (GET, POST, PUT, DELETE, etc.) to a server and check the response easily.</a:t>
            </a:r>
          </a:p>
          <a:p>
            <a:r>
              <a:rPr lang="en-US" dirty="0"/>
              <a:t> Postman is an API testing tool.</a:t>
            </a:r>
          </a:p>
          <a:p>
            <a:r>
              <a:rPr lang="en-US" dirty="0"/>
              <a:t> Helps developers send API requests easily.</a:t>
            </a:r>
          </a:p>
          <a:p>
            <a:r>
              <a:rPr lang="en-US" dirty="0"/>
              <a:t> Used to test REST APIs without writing frontend.</a:t>
            </a:r>
          </a:p>
          <a:p>
            <a:r>
              <a:rPr lang="en-US" dirty="0"/>
              <a:t> Supports GET, POST, PUT, DELETE and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Why is Postman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 Helps in API Testing</a:t>
            </a:r>
          </a:p>
          <a:p>
            <a:pPr marL="0" indent="0">
              <a:buNone/>
            </a:pPr>
            <a:r>
              <a:rPr lang="en-US" dirty="0"/>
              <a:t>     You can test REST APIs without writing frontend code.</a:t>
            </a:r>
          </a:p>
          <a:p>
            <a:r>
              <a:rPr lang="en-US" b="1" dirty="0"/>
              <a:t> Easy to Use</a:t>
            </a:r>
          </a:p>
          <a:p>
            <a:pPr marL="0" indent="0">
              <a:buNone/>
            </a:pPr>
            <a:r>
              <a:rPr lang="en-US" dirty="0"/>
              <a:t>      Simple interface to send API requests and view      responses.</a:t>
            </a:r>
          </a:p>
          <a:p>
            <a:r>
              <a:rPr lang="en-US" b="1" dirty="0"/>
              <a:t> Debugging</a:t>
            </a:r>
          </a:p>
          <a:p>
            <a:pPr marL="0" indent="0">
              <a:buNone/>
            </a:pPr>
            <a:r>
              <a:rPr lang="en-US" dirty="0"/>
              <a:t>      If your API has issues, Postman shows response status, error messages, request body, headers, etc.</a:t>
            </a:r>
          </a:p>
          <a:p>
            <a:r>
              <a:rPr lang="en-US" b="1" dirty="0"/>
              <a:t> Automate Testing</a:t>
            </a:r>
          </a:p>
          <a:p>
            <a:pPr marL="0" indent="0">
              <a:buNone/>
            </a:pPr>
            <a:r>
              <a:rPr lang="en-US" dirty="0"/>
              <a:t>      You can create test collections and run them automatically.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Why Do We Need Postman?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B02E45-B35B-36A6-69A8-60B2152A64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02688"/>
            <a:ext cx="8229600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543300" lvl="8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APIs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than building a 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Send sample data and verify outputs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authentication, headers, tokens, cookies,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Share collections with team members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How to Implement Postman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Download and install Postman from official website.</a:t>
            </a:r>
          </a:p>
          <a:p>
            <a:pPr marL="0" indent="0">
              <a:buNone/>
            </a:pPr>
            <a:r>
              <a:rPr dirty="0"/>
              <a:t>2. Open Postman and create a new request.</a:t>
            </a:r>
          </a:p>
          <a:p>
            <a:pPr marL="0" indent="0">
              <a:buNone/>
            </a:pPr>
            <a:r>
              <a:rPr dirty="0"/>
              <a:t>3. Select method (GET/POST/etc.).</a:t>
            </a:r>
          </a:p>
          <a:p>
            <a:pPr marL="0" indent="0">
              <a:buNone/>
            </a:pPr>
            <a:r>
              <a:rPr dirty="0"/>
              <a:t>4. Enter API URL.</a:t>
            </a:r>
          </a:p>
          <a:p>
            <a:pPr marL="0" indent="0">
              <a:buNone/>
            </a:pPr>
            <a:r>
              <a:rPr dirty="0"/>
              <a:t>5. Add body or headers if needed.</a:t>
            </a:r>
          </a:p>
          <a:p>
            <a:pPr marL="0" indent="0">
              <a:buNone/>
            </a:pPr>
            <a:r>
              <a:rPr dirty="0"/>
              <a:t>6. Click Send and view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Postman with Spring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Run your Spring Boot backend on port (e.g., 8080).</a:t>
            </a:r>
          </a:p>
          <a:p>
            <a:r>
              <a:rPr dirty="0"/>
              <a:t> Example URL: http://localhost:8080/api/hello</a:t>
            </a:r>
          </a:p>
          <a:p>
            <a:r>
              <a:rPr dirty="0"/>
              <a:t>Use Postman to send GET/POST/PUT/DELETE to Spring Boot.</a:t>
            </a:r>
          </a:p>
          <a:p>
            <a:r>
              <a:rPr dirty="0"/>
              <a:t>Add JSON body for POST requests.</a:t>
            </a:r>
          </a:p>
          <a:p>
            <a:r>
              <a:rPr dirty="0"/>
              <a:t>Add Authorization header for secured APIs.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Spring Boot Example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@RestController</a:t>
            </a:r>
          </a:p>
          <a:p>
            <a:pPr marL="0" indent="0">
              <a:buNone/>
            </a:pPr>
            <a:r>
              <a:rPr dirty="0"/>
              <a:t>@GetMapping("/api/hello")</a:t>
            </a:r>
          </a:p>
          <a:p>
            <a:pPr marL="0" indent="0">
              <a:buNone/>
            </a:pPr>
            <a:r>
              <a:rPr dirty="0"/>
              <a:t>public String </a:t>
            </a:r>
            <a:r>
              <a:rPr dirty="0" err="1"/>
              <a:t>sayHello</a:t>
            </a:r>
            <a:r>
              <a:rPr dirty="0"/>
              <a:t>() {</a:t>
            </a:r>
          </a:p>
          <a:p>
            <a:pPr marL="0" indent="0">
              <a:buNone/>
            </a:pPr>
            <a:r>
              <a:rPr dirty="0"/>
              <a:t>   return "Hello from Spring Boot!";</a:t>
            </a:r>
          </a:p>
          <a:p>
            <a:pPr marL="0" indent="0">
              <a:buNone/>
            </a:pPr>
            <a:r>
              <a:rPr dirty="0"/>
              <a:t>}</a:t>
            </a:r>
          </a:p>
          <a:p>
            <a:endParaRPr dirty="0"/>
          </a:p>
          <a:p>
            <a:r>
              <a:rPr dirty="0"/>
              <a:t>Test the above endpoint with a GET request in Postman.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FEC99-A9BA-358B-8474-C19553E6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Role-Based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EF85E-04E1-736C-73F8-71D98C545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Role-Based Authentication (RBAC – Role-Based Access Control) is a security method where access to features, pages, or data is given based on the </a:t>
            </a:r>
            <a:r>
              <a:rPr lang="en-US" b="1" dirty="0"/>
              <a:t>role</a:t>
            </a:r>
            <a:r>
              <a:rPr lang="en-US" dirty="0"/>
              <a:t> of the user.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Example roles</a:t>
            </a:r>
            <a:r>
              <a:rPr lang="en-US" dirty="0"/>
              <a:t>:</a:t>
            </a:r>
          </a:p>
          <a:p>
            <a:r>
              <a:rPr lang="en-US" dirty="0"/>
              <a:t>Admin</a:t>
            </a:r>
          </a:p>
          <a:p>
            <a:r>
              <a:rPr lang="en-US" dirty="0"/>
              <a:t>User</a:t>
            </a:r>
          </a:p>
          <a:p>
            <a:r>
              <a:rPr lang="en-US" dirty="0"/>
              <a:t>Teacher</a:t>
            </a:r>
          </a:p>
          <a:p>
            <a:r>
              <a:rPr lang="en-US" dirty="0"/>
              <a:t>Student</a:t>
            </a:r>
          </a:p>
          <a:p>
            <a:r>
              <a:rPr lang="en-US" dirty="0"/>
              <a:t>Manager</a:t>
            </a:r>
          </a:p>
          <a:p>
            <a:pPr marL="0" indent="0">
              <a:buNone/>
            </a:pPr>
            <a:r>
              <a:rPr lang="en-US" dirty="0"/>
              <a:t>Each role has its own permissions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8668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86AD-16F2-4BD7-5F06-FF9CBB63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u="sng" dirty="0"/>
              <a:t>Why It Is Needed?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5E693-BC16-B610-ECD7-39401F410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Ensures Security</a:t>
            </a:r>
          </a:p>
          <a:p>
            <a:pPr marL="0" indent="0">
              <a:buNone/>
            </a:pPr>
            <a:r>
              <a:rPr lang="en-US" dirty="0"/>
              <a:t>Only authorized users can access sensitive features.</a:t>
            </a:r>
          </a:p>
          <a:p>
            <a:r>
              <a:rPr lang="en-US" b="1" dirty="0"/>
              <a:t>Reduces Errors</a:t>
            </a:r>
          </a:p>
          <a:p>
            <a:pPr marL="0" indent="0">
              <a:buNone/>
            </a:pPr>
            <a:r>
              <a:rPr lang="en-US" dirty="0"/>
              <a:t>Users can only perform allowed actions.</a:t>
            </a:r>
          </a:p>
          <a:p>
            <a:r>
              <a:rPr lang="en-US" b="1" dirty="0"/>
              <a:t>Better Access Control</a:t>
            </a:r>
          </a:p>
          <a:p>
            <a:pPr marL="0" indent="0">
              <a:buNone/>
            </a:pPr>
            <a:r>
              <a:rPr lang="en-US" dirty="0"/>
              <a:t>Easy to manage who can view, edit, delete, or create data.</a:t>
            </a:r>
          </a:p>
          <a:p>
            <a:r>
              <a:rPr lang="en-US" b="1" dirty="0"/>
              <a:t>Scalable</a:t>
            </a:r>
          </a:p>
          <a:p>
            <a:pPr marL="0" indent="0">
              <a:buNone/>
            </a:pPr>
            <a:r>
              <a:rPr lang="en-US" dirty="0"/>
              <a:t>New roles and permissions can be added easily as the system grows.</a:t>
            </a:r>
          </a:p>
          <a:p>
            <a:r>
              <a:rPr lang="en-US" b="1" dirty="0"/>
              <a:t>Organized User Management</a:t>
            </a:r>
          </a:p>
          <a:p>
            <a:pPr marL="0" indent="0">
              <a:buNone/>
            </a:pPr>
            <a:r>
              <a:rPr lang="en-US" dirty="0"/>
              <a:t>Centralized control over user permissions.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64869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C0B38-D2C6-D584-55DA-CA386AD5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1" u="sng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00C70-B55C-C2F2-6714-F2BCF33B4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1.User logs in</a:t>
            </a:r>
            <a:br>
              <a:rPr lang="en-IN" dirty="0"/>
            </a:br>
            <a:r>
              <a:rPr lang="en-IN" dirty="0"/>
              <a:t>2.System verifies username + password</a:t>
            </a:r>
            <a:br>
              <a:rPr lang="en-IN" dirty="0"/>
            </a:br>
            <a:r>
              <a:rPr lang="en-IN" dirty="0"/>
              <a:t>3.Fetches the user’s role from database</a:t>
            </a:r>
            <a:br>
              <a:rPr lang="en-IN" dirty="0"/>
            </a:br>
            <a:r>
              <a:rPr lang="en-IN" dirty="0"/>
              <a:t>4.Assigns permissions based on the role</a:t>
            </a:r>
            <a:br>
              <a:rPr lang="en-IN" dirty="0"/>
            </a:br>
            <a:r>
              <a:rPr lang="en-IN" dirty="0"/>
              <a:t>5. Restricts or allows access to different resources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2244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530CD-2834-5D91-5107-99D9FB15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Where It Is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51AE-3983-5DD9-5165-6934C9F8B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College Management Systems</a:t>
            </a:r>
          </a:p>
          <a:p>
            <a:r>
              <a:rPr lang="en-IN" dirty="0"/>
              <a:t> Banking Applications</a:t>
            </a:r>
          </a:p>
          <a:p>
            <a:r>
              <a:rPr lang="en-IN" dirty="0"/>
              <a:t> Shopping Admin Panels</a:t>
            </a:r>
          </a:p>
          <a:p>
            <a:r>
              <a:rPr lang="en-IN" dirty="0"/>
              <a:t> Hospital Systems</a:t>
            </a:r>
          </a:p>
          <a:p>
            <a:r>
              <a:rPr lang="en-IN" dirty="0"/>
              <a:t> Cloud Apps</a:t>
            </a:r>
          </a:p>
          <a:p>
            <a:r>
              <a:rPr lang="en-IN" dirty="0"/>
              <a:t> Learning Platforms (e.g., </a:t>
            </a:r>
            <a:r>
              <a:rPr lang="en-IN" dirty="0" err="1"/>
              <a:t>SkillForge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0843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761</Words>
  <Application>Microsoft Office PowerPoint</Application>
  <PresentationFormat>On-screen Show (4:3)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Postman  API Role-Based Authentication </vt:lpstr>
      <vt:lpstr>What is an API?</vt:lpstr>
      <vt:lpstr>Why API is Used?</vt:lpstr>
      <vt:lpstr>Why Do We Need API?</vt:lpstr>
      <vt:lpstr>Without APIs: Problems in Project</vt:lpstr>
      <vt:lpstr>What is Postman?</vt:lpstr>
      <vt:lpstr>Why is Postman Used?</vt:lpstr>
      <vt:lpstr>Why Do We Need Postman?</vt:lpstr>
      <vt:lpstr>How to Implement Postman</vt:lpstr>
      <vt:lpstr>Postman with Spring Boot</vt:lpstr>
      <vt:lpstr>Spring Boot Example API</vt:lpstr>
      <vt:lpstr>Role-Based Authentication</vt:lpstr>
      <vt:lpstr>Why It Is Needed?</vt:lpstr>
      <vt:lpstr>How It Works</vt:lpstr>
      <vt:lpstr>Where It Is Used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Khushboo Agrawal</cp:lastModifiedBy>
  <cp:revision>2</cp:revision>
  <dcterms:created xsi:type="dcterms:W3CDTF">2013-01-27T09:14:16Z</dcterms:created>
  <dcterms:modified xsi:type="dcterms:W3CDTF">2025-11-25T13:22:11Z</dcterms:modified>
  <cp:category/>
</cp:coreProperties>
</file>